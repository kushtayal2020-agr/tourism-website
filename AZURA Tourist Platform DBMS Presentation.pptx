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7" r:id="rId13"/>
  </p:sldIdLst>
  <p:sldSz cx="12192000" cy="6858000"/>
  <p:notesSz cx="6858000" cy="9144000"/>
  <p:embeddedFontLst>
    <p:embeddedFont>
      <p:font typeface="Plus Jakarta Sans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5686425"/>
            <a:ext cx="108204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5686425"/>
            <a:ext cx="108204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24062" y="585787"/>
            <a:ext cx="771525" cy="238125"/>
          </a:xfrm>
          <a:prstGeom prst="roundRect">
            <a:avLst>
              <a:gd name="adj" fmla="val 50000"/>
            </a:avLst>
          </a:prstGeom>
          <a:solidFill>
            <a:srgbClr val="072134"/>
          </a:solidFill>
          <a:ln w="9525">
            <a:solidFill>
              <a:srgbClr val="0737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CAE2443-17B5-2598-E788-5CEE0D0B3A69}"/>
              </a:ext>
            </a:extLst>
          </p:cNvPr>
          <p:cNvGrpSpPr/>
          <p:nvPr/>
        </p:nvGrpSpPr>
        <p:grpSpPr>
          <a:xfrm>
            <a:off x="699841" y="373733"/>
            <a:ext cx="576262" cy="578374"/>
            <a:chOff x="685799" y="533399"/>
            <a:chExt cx="662233" cy="662233"/>
          </a:xfrm>
        </p:grpSpPr>
        <p:pic>
          <p:nvPicPr>
            <p:cNvPr id="6" name="Picture 5" descr="image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799" y="533399"/>
              <a:ext cx="662233" cy="662233"/>
            </a:xfrm>
            <a:prstGeom prst="rect">
              <a:avLst/>
            </a:prstGeom>
          </p:spPr>
        </p:pic>
        <p:pic>
          <p:nvPicPr>
            <p:cNvPr id="8" name="Picture 7" descr="imag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1524" y="619124"/>
              <a:ext cx="490537" cy="490537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363075" y="619125"/>
            <a:ext cx="2678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ITM University • B.Tech CSE III Sem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78459"/>
            <a:ext cx="8601075" cy="5770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900" b="1" i="0" u="none" dirty="0">
                <a:solidFill>
                  <a:srgbClr val="FFFFFF"/>
                </a:solidFill>
                <a:latin typeface="Plus Jakarta Sans"/>
              </a:rPr>
              <a:t>AZURA </a:t>
            </a:r>
            <a:r>
              <a:rPr sz="3900" b="1" i="0" u="none" dirty="0">
                <a:solidFill>
                  <a:srgbClr val="F59E0B"/>
                </a:solidFill>
                <a:latin typeface="Plus Jakarta Sans"/>
              </a:rPr>
              <a:t>Global Tourism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69990"/>
            <a:ext cx="65722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sz="1425" b="0" i="0" u="none">
                <a:solidFill>
                  <a:srgbClr val="94A3B8"/>
                </a:solidFill>
                <a:latin typeface="Plus Jakarta Sans"/>
              </a:rPr>
              <a:t>A high-performance MySQL relational schema connecting worldwide destinations, dynamic packages, booking lifecycles, and transactions.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5901" y="300307"/>
            <a:ext cx="1967846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u="none" dirty="0">
                <a:solidFill>
                  <a:srgbClr val="FFFFFF"/>
                </a:solidFill>
                <a:latin typeface="Plus Jakarta Sans"/>
              </a:rPr>
              <a:t>AZURA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924550"/>
            <a:ext cx="37623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PROJECT TEAM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124575"/>
            <a:ext cx="592687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200" b="1" i="0" u="none" dirty="0">
                <a:solidFill>
                  <a:srgbClr val="F1F5F9"/>
                </a:solidFill>
                <a:latin typeface="Plus Jakarta Sans"/>
              </a:rPr>
              <a:t>Kush Tayal</a:t>
            </a:r>
            <a:r>
              <a:rPr lang="en-US" sz="1200" b="1" i="0" u="none" dirty="0">
                <a:solidFill>
                  <a:srgbClr val="F1F5F9"/>
                </a:solidFill>
                <a:latin typeface="Plus Jakarta Sans"/>
              </a:rPr>
              <a:t> (BETN1CS25028)</a:t>
            </a:r>
            <a:r>
              <a:rPr sz="1200" b="1" i="0" u="none" dirty="0">
                <a:solidFill>
                  <a:srgbClr val="F1F5F9"/>
                </a:solidFill>
                <a:latin typeface="Plus Jakarta Sans"/>
              </a:rPr>
              <a:t> • Krishna Yadav</a:t>
            </a:r>
            <a:r>
              <a:rPr lang="en-US" sz="1200" b="1" dirty="0">
                <a:solidFill>
                  <a:srgbClr val="F1F5F9"/>
                </a:solidFill>
                <a:latin typeface="Plus Jakarta Sans"/>
              </a:rPr>
              <a:t> (BETN1CS25044)</a:t>
            </a:r>
            <a:r>
              <a:rPr sz="1200" b="1" i="0" u="none" dirty="0">
                <a:solidFill>
                  <a:srgbClr val="F1F5F9"/>
                </a:solidFill>
                <a:latin typeface="Plus Jakarta Sans"/>
              </a:rPr>
              <a:t> • Aniket Yadav</a:t>
            </a:r>
            <a:r>
              <a:rPr lang="en-US" sz="1200" b="1" dirty="0">
                <a:solidFill>
                  <a:srgbClr val="F1F5F9"/>
                </a:solidFill>
                <a:latin typeface="Plus Jakarta Sans"/>
              </a:rPr>
              <a:t> (BETN1CS25011)</a:t>
            </a:r>
            <a:endParaRPr sz="1200" b="1" i="0" u="none" dirty="0">
              <a:solidFill>
                <a:srgbClr val="F1F5F9"/>
              </a:solidFill>
              <a:latin typeface="Plus Jakarta San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482137" y="5924550"/>
            <a:ext cx="20240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900" b="1" i="0" u="none">
                <a:solidFill>
                  <a:srgbClr val="64748B"/>
                </a:solidFill>
                <a:latin typeface="Plus Jakarta Sans"/>
              </a:rPr>
              <a:t>FACULTY MENTOR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82137" y="6124575"/>
            <a:ext cx="20240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200" b="1" i="0" u="none">
                <a:solidFill>
                  <a:srgbClr val="38BDF8"/>
                </a:solidFill>
                <a:latin typeface="Plus Jakarta Sans"/>
              </a:rPr>
              <a:t>Dr. Geetanjali Surange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77500" y="495300"/>
            <a:ext cx="1066800" cy="2571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" y="2756892"/>
            <a:ext cx="3479750" cy="2252662"/>
          </a:xfrm>
          <a:prstGeom prst="roundRect">
            <a:avLst>
              <a:gd name="adj" fmla="val 76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56050" y="2756892"/>
            <a:ext cx="3479750" cy="2252662"/>
          </a:xfrm>
          <a:prstGeom prst="roundRect">
            <a:avLst>
              <a:gd name="adj" fmla="val 76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64400" y="2756892"/>
            <a:ext cx="3479750" cy="2252662"/>
          </a:xfrm>
          <a:prstGeom prst="roundRect">
            <a:avLst>
              <a:gd name="adj" fmla="val 76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7121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307121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3071217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462" y="3204567"/>
            <a:ext cx="23812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5625" y="3204567"/>
            <a:ext cx="19050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3975" y="3204567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610850" y="552450"/>
            <a:ext cx="8953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01 •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95300"/>
            <a:ext cx="7438429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The Core Tourism Data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937170"/>
            <a:ext cx="70842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Eliminating booking state fragmentation with single-source relational integrity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718917"/>
            <a:ext cx="38420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Scattered Records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052292"/>
            <a:ext cx="3022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Disjointed destination catalogs and hotel inventories lead to out-of-sync booking calendars.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275" y="3718917"/>
            <a:ext cx="38420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Data Integrity 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275" y="4052292"/>
            <a:ext cx="3022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Dangling references, duplicate customer accounts, and invalid negative sums corrupt reporting.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5" y="3718917"/>
            <a:ext cx="384208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Reporting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0625" y="4052292"/>
            <a:ext cx="3022550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Management dashboards lack unified transactional views for live occupancy and revenue tracking.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01300" y="495300"/>
            <a:ext cx="1143000" cy="2571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" y="2854523"/>
            <a:ext cx="3454449" cy="205740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68849" y="2764035"/>
            <a:ext cx="3454449" cy="2238375"/>
          </a:xfrm>
          <a:prstGeom prst="roundRect">
            <a:avLst>
              <a:gd name="adj" fmla="val 68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89999" y="2764035"/>
            <a:ext cx="3454449" cy="2238375"/>
          </a:xfrm>
          <a:prstGeom prst="roundRect">
            <a:avLst>
              <a:gd name="adj" fmla="val 68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154560"/>
            <a:ext cx="1905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074" y="3064073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224" y="3064073"/>
            <a:ext cx="15240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521273"/>
            <a:ext cx="133350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3907035"/>
            <a:ext cx="133350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925" y="4383285"/>
            <a:ext cx="13335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074" y="3521273"/>
            <a:ext cx="13335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074" y="3997523"/>
            <a:ext cx="13335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5074" y="4473773"/>
            <a:ext cx="133350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224" y="3521273"/>
            <a:ext cx="133350" cy="1428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224" y="3997523"/>
            <a:ext cx="133350" cy="1428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224" y="4473773"/>
            <a:ext cx="133350" cy="1428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534650" y="552450"/>
            <a:ext cx="9715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02 •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" y="495300"/>
            <a:ext cx="752594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System Scope &amp;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700" y="937170"/>
            <a:ext cx="7167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 modular three-tier database tier engineered for production travel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9675" y="3130748"/>
            <a:ext cx="230028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Tourism Domain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525" y="3502223"/>
            <a:ext cx="3398899" cy="18097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Users: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Profiles, roles, auth credentials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525" y="3797498"/>
            <a:ext cx="2768649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Catalog: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Destinations, hotels, packages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525" y="4273748"/>
            <a:ext cx="2768649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Commerce: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Bookings, payments, ratings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724" y="3040260"/>
            <a:ext cx="168771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Database Logic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73674" y="3411735"/>
            <a:ext cx="2768649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Constraints: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PK, FK, CHECK and UNIQUE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73674" y="3887985"/>
            <a:ext cx="2768649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Programmability: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5 procedures &amp; 4 triggers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73674" y="4364235"/>
            <a:ext cx="2768649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Indexing: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B-Tree access paths on FK columns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874" y="3040260"/>
            <a:ext cx="243780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Operations &amp;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4824" y="3411735"/>
            <a:ext cx="2768649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Access: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Strict role-based permissions (RBAC)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4824" y="3887985"/>
            <a:ext cx="2768649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Auditing: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Automated logs of booking transitions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4824" y="4364235"/>
            <a:ext cx="2768649" cy="3619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25" b="1" i="0" u="none">
                <a:solidFill>
                  <a:srgbClr val="334155"/>
                </a:solidFill>
                <a:latin typeface="Plus Jakarta Sans"/>
              </a:rPr>
              <a:t>DR Drill:</a:t>
            </a:r>
            <a:r>
              <a:rPr sz="1125" b="0" i="0" u="none">
                <a:solidFill>
                  <a:srgbClr val="334155"/>
                </a:solidFill>
                <a:latin typeface="Plus Jakarta Sans"/>
              </a:rPr>
              <a:t> Tested backup and schema restoration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248900" y="495300"/>
            <a:ext cx="1295400" cy="2571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68505" y="2766268"/>
            <a:ext cx="3975794" cy="2233910"/>
          </a:xfrm>
          <a:prstGeom prst="roundRect">
            <a:avLst>
              <a:gd name="adj" fmla="val 7674"/>
            </a:avLst>
          </a:prstGeom>
          <a:solidFill>
            <a:srgbClr val="0C1938"/>
          </a:solidFill>
          <a:ln w="9525">
            <a:solidFill>
              <a:srgbClr val="F9FA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7700" y="2911673"/>
            <a:ext cx="1587251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349251" y="2911673"/>
            <a:ext cx="15874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050952" y="2911673"/>
            <a:ext cx="1587251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752504" y="2911673"/>
            <a:ext cx="15874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7700" y="3940373"/>
            <a:ext cx="1587251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349251" y="3940373"/>
            <a:ext cx="15874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050952" y="3940373"/>
            <a:ext cx="1587251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752504" y="3940373"/>
            <a:ext cx="1587400" cy="9144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25680" y="4466778"/>
            <a:ext cx="3461444" cy="276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25680" y="4466778"/>
            <a:ext cx="3461444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5680" y="3023443"/>
            <a:ext cx="361950" cy="3619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930" y="3128218"/>
            <a:ext cx="171450" cy="152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382250" y="552450"/>
            <a:ext cx="1123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03 • DATA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495300"/>
            <a:ext cx="6500812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Conceptual Data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" y="937170"/>
            <a:ext cx="6191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All 8 core business entities mapped with strict relational cardinalities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25680" y="3499693"/>
            <a:ext cx="436631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Full Chen ER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5680" y="3775918"/>
            <a:ext cx="3556694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All 8 domain entities normalized to 3NF. Connects destinations, lodging, booking lifecycles, payments, user reviews, and adventure experiences.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1525" y="3054548"/>
            <a:ext cx="1674502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3197423"/>
            <a:ext cx="175822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525" y="3397448"/>
            <a:ext cx="143485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Makes Bookings • Writes Reviews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73076" y="3054548"/>
            <a:ext cx="1674688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284C7"/>
                </a:solidFill>
                <a:latin typeface="Plus Jakarta Sans"/>
              </a:rPr>
              <a:t>CORE HUB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73076" y="3197423"/>
            <a:ext cx="175842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DESTINATION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73076" y="3397448"/>
            <a:ext cx="143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Contains Hotels • Offers Packages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74777" y="3054548"/>
            <a:ext cx="1674502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LODGING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74777" y="3197423"/>
            <a:ext cx="175822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HOTEL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74777" y="3397448"/>
            <a:ext cx="143485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Located in Destination • Stars/Amenities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76329" y="3054548"/>
            <a:ext cx="1674688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6366F1"/>
                </a:solidFill>
                <a:latin typeface="Plus Jakarta Sans"/>
              </a:rPr>
              <a:t>CATALOG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76329" y="3197423"/>
            <a:ext cx="175842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PACKAGE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76329" y="3397448"/>
            <a:ext cx="143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Curated Itineraries • Includes Activities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1525" y="4083248"/>
            <a:ext cx="1674502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ACTIVITIES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1525" y="4226123"/>
            <a:ext cx="175822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4426148"/>
            <a:ext cx="143485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Destination Adventures &amp; Excursions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473076" y="4083248"/>
            <a:ext cx="1674688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EF4444"/>
                </a:solidFill>
                <a:latin typeface="Plus Jakarta Sans"/>
              </a:rPr>
              <a:t>TRANSACTION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73076" y="4226123"/>
            <a:ext cx="175842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BOOKING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73076" y="4426148"/>
            <a:ext cx="143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Connects User &amp; Package • Status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74777" y="4083248"/>
            <a:ext cx="1674502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0F172A"/>
                </a:solidFill>
                <a:latin typeface="Plus Jakarta Sans"/>
              </a:rPr>
              <a:t>LEDGER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74777" y="4226123"/>
            <a:ext cx="175822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PAYMENT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74777" y="4426148"/>
            <a:ext cx="1434851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Linked to Booking • Method &amp; Amount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76329" y="4083248"/>
            <a:ext cx="1674688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8B5CF6"/>
                </a:solidFill>
                <a:latin typeface="Plus Jakarta Sans"/>
              </a:rPr>
              <a:t>FEEDBACK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76329" y="4226123"/>
            <a:ext cx="175842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REVIEW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76329" y="4426148"/>
            <a:ext cx="143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User Reviews Destination • 1 to 5 Stars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25680" y="4590603"/>
            <a:ext cx="11906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BD5E1"/>
                </a:solidFill>
                <a:latin typeface="Plus Jakarta Sans"/>
              </a:rPr>
              <a:t>Core Entities: 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25100" y="4590603"/>
            <a:ext cx="12477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Bridge Tables: 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10825" y="495300"/>
            <a:ext cx="1133475" cy="2571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" y="2687835"/>
            <a:ext cx="3479750" cy="2390775"/>
          </a:xfrm>
          <a:prstGeom prst="roundRect">
            <a:avLst>
              <a:gd name="adj" fmla="val 63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56050" y="2697360"/>
            <a:ext cx="3479750" cy="2371725"/>
          </a:xfrm>
          <a:prstGeom prst="roundRect">
            <a:avLst>
              <a:gd name="adj" fmla="val 642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64400" y="2797373"/>
            <a:ext cx="3479750" cy="2171700"/>
          </a:xfrm>
          <a:prstGeom prst="roundRect">
            <a:avLst>
              <a:gd name="adj" fmla="val 70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23925" y="4230885"/>
            <a:ext cx="29273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632275" y="4240410"/>
            <a:ext cx="29273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340625" y="4140398"/>
            <a:ext cx="29273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0216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275" y="3011685"/>
            <a:ext cx="200025" cy="2286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0625" y="3111698"/>
            <a:ext cx="257175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544175" y="552450"/>
            <a:ext cx="9620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04 • INTEGRITY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495300"/>
            <a:ext cx="6959463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Relational Design &amp; Integrity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" y="937170"/>
            <a:ext cx="662806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Defending the database boundary with native schema-level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383160"/>
            <a:ext cx="38420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Referential Integrity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678435"/>
            <a:ext cx="3022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Strict cascading and foreign key parent checks.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225" y="4345185"/>
            <a:ext cx="27939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"/>
              </a:rPr>
              <a:t>booking.user_id → user.id</a:t>
            </a:r>
            <a:r>
              <a:t>
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payment.booking_id → booking.id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2275" y="3392685"/>
            <a:ext cx="38420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Validation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2275" y="3687960"/>
            <a:ext cx="30225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Preventing invalid boundary data at SQL execution.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6575" y="4354710"/>
            <a:ext cx="2793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"/>
              </a:rPr>
              <a:t>CHECK (num_travelers &gt; 0)</a:t>
            </a:r>
            <a:r>
              <a:t>
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CHECK (rating BETWEEN 1 AND 5)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0625" y="3492698"/>
            <a:ext cx="3842081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Normalization (3NF)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0625" y="3787973"/>
            <a:ext cx="36591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Eliminated transitive and partial dependencies.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4925" y="4254698"/>
            <a:ext cx="27939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34155"/>
                </a:solidFill>
                <a:latin typeface="Plus Jakarta Sans"/>
              </a:rPr>
              <a:t>Composite key: (hotel_id, room_no)</a:t>
            </a:r>
            <a:r>
              <a:t>
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Decoupled hotel amenities bridge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134600" y="495300"/>
            <a:ext cx="1409700" cy="2571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" y="4430910"/>
            <a:ext cx="10896600" cy="571500"/>
          </a:xfrm>
          <a:prstGeom prst="roundRect">
            <a:avLst>
              <a:gd name="adj" fmla="val 23333"/>
            </a:avLst>
          </a:prstGeom>
          <a:solidFill>
            <a:srgbClr val="0C1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7700" y="2764035"/>
            <a:ext cx="2581275" cy="1438275"/>
          </a:xfrm>
          <a:prstGeom prst="roundRect">
            <a:avLst>
              <a:gd name="adj" fmla="val 10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419475" y="2764035"/>
            <a:ext cx="2581275" cy="1438275"/>
          </a:xfrm>
          <a:prstGeom prst="roundRect">
            <a:avLst>
              <a:gd name="adj" fmla="val 10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2764035"/>
            <a:ext cx="2581275" cy="1438275"/>
          </a:xfrm>
          <a:prstGeom prst="roundRect">
            <a:avLst>
              <a:gd name="adj" fmla="val 10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63025" y="2764035"/>
            <a:ext cx="2581275" cy="1438275"/>
          </a:xfrm>
          <a:prstGeom prst="roundRect">
            <a:avLst>
              <a:gd name="adj" fmla="val 1059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621410"/>
            <a:ext cx="2381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267950" y="552450"/>
            <a:ext cx="1238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05 • MYSQL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495300"/>
            <a:ext cx="668833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Implemented Database Objects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937170"/>
            <a:ext cx="6369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Complete inventory of physical objects built and tested on MySQL 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814" y="4640460"/>
            <a:ext cx="249473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59E0B"/>
                </a:solidFill>
                <a:latin typeface="Plus Jakarta Sans"/>
              </a:rPr>
              <a:t>ENGINE: INNODB • MYSQL 8.0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2696" y="3040260"/>
            <a:ext cx="2631281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  <a:latin typeface="Plus Jakarta Sans"/>
              </a:rP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696" y="3573660"/>
            <a:ext cx="2631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Plus Jakarta Sans"/>
              </a:rPr>
              <a:t>Base Tables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696" y="378321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0F172A"/>
                </a:solidFill>
                <a:latin typeface="Plus Jakarta Sans"/>
              </a:rPr>
              <a:t>Core, Bridge &amp; Audit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4471" y="3040260"/>
            <a:ext cx="2631281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0284C7"/>
                </a:solidFill>
                <a:latin typeface="Plus Jakarta Sans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4471" y="3573660"/>
            <a:ext cx="2631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Plus Jakarta Sans"/>
              </a:rPr>
              <a:t>Materialized Views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4471" y="378321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0F172A"/>
                </a:solidFill>
                <a:latin typeface="Plus Jakarta Sans"/>
              </a:rPr>
              <a:t>Analytics &amp; Travel Catalogs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6246" y="3040260"/>
            <a:ext cx="2631281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  <a:latin typeface="Plus Jakarta Sans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6246" y="3573660"/>
            <a:ext cx="2631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Plus Jakarta Sans"/>
              </a:rPr>
              <a:t>Routines &amp; Funcs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6246" y="378321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0F172A"/>
                </a:solidFill>
                <a:latin typeface="Plus Jakarta Sans"/>
              </a:rPr>
              <a:t>5 Procedures + 4 Functions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38021" y="3040260"/>
            <a:ext cx="2631281" cy="4572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0F172A"/>
                </a:solidFill>
                <a:latin typeface="Plus Jakarta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38021" y="3573660"/>
            <a:ext cx="2631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4748B"/>
                </a:solidFill>
                <a:latin typeface="Plus Jakarta Sans"/>
              </a:rPr>
              <a:t>Active Triggers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38021" y="378321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0F172A"/>
                </a:solidFill>
                <a:latin typeface="Plus Jakarta Sans"/>
              </a:rPr>
              <a:t>Audit &amp; State 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5875" y="4626173"/>
            <a:ext cx="17264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Migration Lifecycle: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0350" y="4630935"/>
            <a:ext cx="3810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Versions 1.0 → 1.4 tracked via schema_migrations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867900" y="495300"/>
            <a:ext cx="1676400" cy="2571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289899" y="2359223"/>
            <a:ext cx="4254400" cy="3048000"/>
          </a:xfrm>
          <a:prstGeom prst="roundRect">
            <a:avLst>
              <a:gd name="adj" fmla="val 5625"/>
            </a:avLst>
          </a:prstGeom>
          <a:solidFill>
            <a:srgbClr val="0C1938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47700" y="2711648"/>
            <a:ext cx="2036266" cy="1104900"/>
          </a:xfrm>
          <a:prstGeom prst="roundRect">
            <a:avLst>
              <a:gd name="adj" fmla="val 120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817316" y="2711648"/>
            <a:ext cx="2036266" cy="1104900"/>
          </a:xfrm>
          <a:prstGeom prst="roundRect">
            <a:avLst>
              <a:gd name="adj" fmla="val 120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86932" y="2711648"/>
            <a:ext cx="2036266" cy="1104900"/>
          </a:xfrm>
          <a:prstGeom prst="roundRect">
            <a:avLst>
              <a:gd name="adj" fmla="val 120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7700" y="3949898"/>
            <a:ext cx="2036266" cy="1104900"/>
          </a:xfrm>
          <a:prstGeom prst="roundRect">
            <a:avLst>
              <a:gd name="adj" fmla="val 120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17316" y="3949898"/>
            <a:ext cx="2036266" cy="1104900"/>
          </a:xfrm>
          <a:prstGeom prst="roundRect">
            <a:avLst>
              <a:gd name="adj" fmla="val 120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986932" y="3949898"/>
            <a:ext cx="2036266" cy="1104900"/>
          </a:xfrm>
          <a:prstGeom prst="roundRect">
            <a:avLst>
              <a:gd name="adj" fmla="val 1206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01250" y="552450"/>
            <a:ext cx="1504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06 • DATA BENCHMARKS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" y="495300"/>
            <a:ext cx="7650956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 Volume &amp; Seeding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937170"/>
            <a:ext cx="7286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Stress-tested dataset covering all 8 entities to validate query plans and indexing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8024" y="4325838"/>
            <a:ext cx="46639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500" b="1" i="0" u="none">
                <a:solidFill>
                  <a:srgbClr val="FFFFFF"/>
                </a:solidFill>
                <a:latin typeface="Plus Jakarta Sans"/>
              </a:rPr>
              <a:t>20 Complex Analytics Queries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8024" y="4630638"/>
            <a:ext cx="3873400" cy="5384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975" b="0" i="0" u="none">
                <a:solidFill>
                  <a:srgbClr val="94A3B8"/>
                </a:solidFill>
                <a:latin typeface="Plus Jakarta Sans"/>
              </a:rPr>
              <a:t>CTEs, window ranking (DENSE_RANK), multi-table joins, date aggregation, and conditional CASE analytics verified on MySQL 8.0.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2892623"/>
            <a:ext cx="214052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3292673"/>
            <a:ext cx="214052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Destinations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492698"/>
            <a:ext cx="214052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Global catalog coverage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9241" y="2892623"/>
            <a:ext cx="214052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1,007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9241" y="3292673"/>
            <a:ext cx="214052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Bookings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9241" y="3492698"/>
            <a:ext cx="214052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Transaction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8857" y="2892623"/>
            <a:ext cx="214052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1,007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8857" y="3292673"/>
            <a:ext cx="214052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Payments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857" y="3492698"/>
            <a:ext cx="214052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1:1 ledger reconciliation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4130873"/>
            <a:ext cx="214052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104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625" y="4530923"/>
            <a:ext cx="214052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366F1"/>
                </a:solidFill>
                <a:latin typeface="Plus Jakarta Sans"/>
              </a:rPr>
              <a:t>Hotels / Packages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625" y="4730948"/>
            <a:ext cx="214052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Lodging &amp; itineraries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79241" y="4130873"/>
            <a:ext cx="214052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9241" y="4530923"/>
            <a:ext cx="214052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Experiences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9241" y="4730948"/>
            <a:ext cx="214052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Excursions &amp; activities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48857" y="4130873"/>
            <a:ext cx="214052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48857" y="4530923"/>
            <a:ext cx="214052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B5CF6"/>
                </a:solidFill>
                <a:latin typeface="Plus Jakarta Sans"/>
              </a:rPr>
              <a:t>Reviews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857" y="4730948"/>
            <a:ext cx="214052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CHECK (1-5) tested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424" y="4106763"/>
            <a:ext cx="164083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Plus Jakarta Sans"/>
              </a:rPr>
              <a:t>PORTFOLIO VERIFIED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8E68D2A-B0AF-9632-9015-9BCBDEA1E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922" y="0"/>
            <a:ext cx="10298156" cy="6865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6985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448925" y="495300"/>
            <a:ext cx="1095375" cy="2571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" y="2668785"/>
            <a:ext cx="347975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56050" y="2664023"/>
            <a:ext cx="347975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64400" y="2668785"/>
            <a:ext cx="347975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5825" y="4611885"/>
            <a:ext cx="1524000" cy="219075"/>
          </a:xfrm>
          <a:prstGeom prst="roundRect">
            <a:avLst>
              <a:gd name="adj" fmla="val 2608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94175" y="4616648"/>
            <a:ext cx="1343025" cy="219075"/>
          </a:xfrm>
          <a:prstGeom prst="roundRect">
            <a:avLst>
              <a:gd name="adj" fmla="val 2608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302525" y="4611885"/>
            <a:ext cx="1562100" cy="219075"/>
          </a:xfrm>
          <a:prstGeom prst="roundRect">
            <a:avLst>
              <a:gd name="adj" fmla="val 26086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964060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4175" y="2959298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525" y="2964060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12" y="3078360"/>
            <a:ext cx="2381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4187" y="3073598"/>
            <a:ext cx="2190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6825" y="3078360"/>
            <a:ext cx="190500" cy="190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82275" y="552450"/>
            <a:ext cx="923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07 •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700" y="495300"/>
            <a:ext cx="6575821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Database Security &amp; Audit Trail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700" y="937170"/>
            <a:ext cx="6262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Enforcing least-privilege, parameterized SQL, and mutation tracking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5825" y="3554610"/>
            <a:ext cx="394209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Least Privilege (RBAC)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825" y="3849885"/>
            <a:ext cx="3098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Admin vs customer roles. Customer DELETE privileges on catalog tables are rejected by MySQL engine.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4649985"/>
            <a:ext cx="14668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Plus Jakarta Sans"/>
              </a:rPr>
              <a:t>VERIFIED: Access Denied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4175" y="3549848"/>
            <a:ext cx="394209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Injection Defense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4175" y="3845123"/>
            <a:ext cx="30987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Prepared statements with strict typing. Injection test payloads (' OR 1=1) returned safe empty sets.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0375" y="4654748"/>
            <a:ext cx="12858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Plus Jakarta Sans"/>
              </a:rPr>
              <a:t>VERIFIED: Neutralized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525" y="3554610"/>
            <a:ext cx="388947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Rollback &amp;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525" y="3849885"/>
            <a:ext cx="309875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ACID transaction ROLLBACK restored modified booking statuses. Triggers recorded full audit entries.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8725" y="4649985"/>
            <a:ext cx="15049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59669"/>
                </a:solidFill>
                <a:latin typeface="Plus Jakarta Sans"/>
              </a:rPr>
              <a:t>VERIFIED: Audit Captured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53675" y="495300"/>
            <a:ext cx="1190625" cy="2571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" y="2492573"/>
            <a:ext cx="5286375" cy="2781300"/>
          </a:xfrm>
          <a:prstGeom prst="roundRect">
            <a:avLst>
              <a:gd name="adj" fmla="val 6164"/>
            </a:avLst>
          </a:prstGeom>
          <a:solidFill>
            <a:srgbClr val="0C19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38875" y="2383035"/>
            <a:ext cx="5305425" cy="3000375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52500" y="4588073"/>
            <a:ext cx="4676775" cy="381000"/>
          </a:xfrm>
          <a:prstGeom prst="roundRect">
            <a:avLst>
              <a:gd name="adj" fmla="val 25000"/>
            </a:avLst>
          </a:prstGeom>
          <a:solidFill>
            <a:srgbClr val="1B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2697360"/>
            <a:ext cx="419100" cy="4191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025" y="2821185"/>
            <a:ext cx="17145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87025" y="552450"/>
            <a:ext cx="10191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08 • READINESS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700" y="495300"/>
            <a:ext cx="7063382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Performance &amp; Disaster Recovery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" y="937170"/>
            <a:ext cx="672703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Query optimization with EXPLAIN and automated mysqldump restore drills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2797373"/>
            <a:ext cx="584596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INDEX BENCHMARKS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025973"/>
            <a:ext cx="5845968" cy="514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4050" b="1" i="0" u="none">
                <a:solidFill>
                  <a:srgbClr val="F59E0B"/>
                </a:solidFill>
                <a:latin typeface="Plus Jakarta Sans"/>
              </a:rPr>
              <a:t>65% 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654623"/>
            <a:ext cx="584596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Latency Reduction via Indexes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3987998"/>
            <a:ext cx="4772025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Query execution dropped from </a:t>
            </a:r>
            <a:r>
              <a:rPr sz="1050" b="1" i="0" u="none">
                <a:solidFill>
                  <a:srgbClr val="94A3B8"/>
                </a:solidFill>
                <a:latin typeface="Plus Jakarta Sans"/>
              </a:rPr>
              <a:t>48.2 ms to 16.9 ms</a:t>
            </a:r>
            <a:r>
              <a:rPr sz="1050" b="0" i="0" u="none">
                <a:solidFill>
                  <a:srgbClr val="94A3B8"/>
                </a:solidFill>
                <a:latin typeface="Plus Jakarta Sans"/>
              </a:rPr>
              <a:t> on user booking lookups via idx_bookings_user.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4702373"/>
            <a:ext cx="45434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CBD5E1"/>
                </a:solidFill>
                <a:latin typeface="Plus Jakarta Sans"/>
              </a:rPr>
              <a:t>EXPLAIN Result:</a:t>
            </a:r>
            <a:r>
              <a:rPr sz="975" b="0" i="0" u="none">
                <a:solidFill>
                  <a:srgbClr val="CBD5E1"/>
                </a:solidFill>
                <a:latin typeface="Plus Jakarta Sans"/>
              </a:rPr>
              <a:t> Type ref • Key: idx_bookings_user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3268860"/>
            <a:ext cx="56388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Backup &amp; Restoration Drill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3583185"/>
            <a:ext cx="47720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Verified physical disaster recovery by dumping and re-populating test environments.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4173735"/>
            <a:ext cx="14287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Dump Archive Size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87000" y="4173735"/>
            <a:ext cx="1228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F172A"/>
                </a:solidFill>
                <a:latin typeface="Plus Jakarta Sans"/>
              </a:rPr>
              <a:t>394,073 bytes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4526160"/>
            <a:ext cx="12287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Target Schema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72675" y="4526160"/>
            <a:ext cx="15716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azura_restore_test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4897635"/>
            <a:ext cx="1238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Integrity 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5950" y="4897635"/>
            <a:ext cx="21550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59669"/>
                </a:solidFill>
                <a:latin typeface="Plus Jakarta Sans"/>
              </a:rPr>
              <a:t>100% Schema Rehydrated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0391775" y="495300"/>
            <a:ext cx="1152525" cy="257175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7700" y="2473523"/>
            <a:ext cx="53530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2473523"/>
            <a:ext cx="53530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7700" y="3978473"/>
            <a:ext cx="53530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1250" y="3978473"/>
            <a:ext cx="5353050" cy="1314450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5825" y="271164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29375" y="271164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85825" y="421659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29375" y="4216598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25125" y="552450"/>
            <a:ext cx="9810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09 • ROADMAP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" y="495300"/>
            <a:ext cx="6688335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Future Production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" y="937170"/>
            <a:ext cx="6369843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Plus Jakarta Sans"/>
              </a:rPr>
              <a:t>Planned database architectural scaling for enterprise travel workloads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149798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Multi-region MySQL clustering and read-replicas for low latency and automatic failover.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149798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Optimistic concurrency control and row locking to completely prevent double-booking.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5825" y="4654748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Automated migration pipeline using Liquibase/Flyway with test validation before deployment.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4654748"/>
            <a:ext cx="4972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Plus Jakarta Sans"/>
              </a:rPr>
              <a:t>Integrate ARIA assistant with vector search for intent-driven travel package discovery.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711648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3025" y="2778323"/>
            <a:ext cx="232529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Cloud Replication &amp; HA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86500" y="2711648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86575" y="2778323"/>
            <a:ext cx="298787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Room Inventory Concurrency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4216598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059669"/>
                </a:solidFill>
                <a:latin typeface="Plus Jakarta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3025" y="4283273"/>
            <a:ext cx="2750343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Automated CI/CD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86500" y="4216598"/>
            <a:ext cx="6286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 u="none">
                <a:solidFill>
                  <a:srgbClr val="475569"/>
                </a:solidFill>
                <a:latin typeface="Plus Jakarta San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86575" y="4283273"/>
            <a:ext cx="3212901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AI Search &amp; Vector Embeddings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00362" y="4928145"/>
            <a:ext cx="6391275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900362" y="4928145"/>
            <a:ext cx="639127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1510754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663154"/>
            <a:ext cx="304800" cy="30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59194" y="2348954"/>
            <a:ext cx="34734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AZURA RELATIONAL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381000" y="2634704"/>
            <a:ext cx="12954000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1" i="0" u="none" dirty="0">
                <a:solidFill>
                  <a:srgbClr val="FFFFFF"/>
                </a:solidFill>
                <a:latin typeface="Plus Jakarta Sans"/>
              </a:rPr>
              <a:t>A Structured Database for a Connected Travel Experience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05062" y="3975645"/>
            <a:ext cx="738187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Thank you for your time. We are now ready for questions and live system evaluation.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18159" y="5166270"/>
            <a:ext cx="4822031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F59E0B"/>
                </a:solidFill>
                <a:latin typeface="Plus Jakarta Sans"/>
              </a:rPr>
              <a:t>Team NEXUS:</a:t>
            </a:r>
            <a:r>
              <a:rPr sz="1125" b="1" i="0" u="none">
                <a:solidFill>
                  <a:srgbClr val="CBD5E1"/>
                </a:solidFill>
                <a:latin typeface="Plus Jakarta Sans"/>
              </a:rPr>
              <a:t> Kush Tayal • Krishna Yadav • Aniket Yadav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4181" y="5166270"/>
            <a:ext cx="27860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64748B"/>
                </a:solidFill>
                <a:latin typeface="Plus Jakarta Sans"/>
              </a:rPr>
              <a:t>ITM University • CSE Department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888</Words>
  <Application>Microsoft Office PowerPoint</Application>
  <PresentationFormat>Widescreen</PresentationFormat>
  <Paragraphs>165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Plus Jakarta Sans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Kush Tayal</cp:lastModifiedBy>
  <cp:revision>3</cp:revision>
  <dcterms:created xsi:type="dcterms:W3CDTF">2013-01-27T09:14:16Z</dcterms:created>
  <dcterms:modified xsi:type="dcterms:W3CDTF">2026-10-21T18:26:09Z</dcterms:modified>
  <cp:category/>
</cp:coreProperties>
</file>