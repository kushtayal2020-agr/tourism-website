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802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923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2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410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902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261" y="461594"/>
            <a:ext cx="1068147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0073" y="1202262"/>
            <a:ext cx="9811851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8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xStyles>
    <p:titleStyle>
      <a:lvl1pPr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731" y="4057650"/>
            <a:ext cx="9486899" cy="22098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4" name="TextBox 3"/>
          <p:cNvSpPr txBox="1"/>
          <p:nvPr/>
        </p:nvSpPr>
        <p:spPr>
          <a:xfrm>
            <a:off x="305276" y="1467891"/>
            <a:ext cx="11581447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0" i="0" u="none" dirty="0">
                <a:solidFill>
                  <a:srgbClr val="FFFFFF"/>
                </a:solidFill>
                <a:latin typeface="Poppins SemiBold"/>
              </a:rPr>
              <a:t>ER Model and Relational Model of </a:t>
            </a:r>
            <a:r>
              <a:rPr sz="3900" b="0" i="0" u="none" dirty="0">
                <a:solidFill>
                  <a:schemeClr val="tx2">
                    <a:lumMod val="50000"/>
                  </a:schemeClr>
                </a:solidFill>
                <a:latin typeface="Poppins SemiBold"/>
              </a:rPr>
              <a:t>AZURA </a:t>
            </a:r>
            <a:r>
              <a:rPr sz="390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Touris</a:t>
            </a:r>
            <a:r>
              <a:rPr lang="en-US" sz="390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3900" b="0" i="0" u="none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07930" y="3037433"/>
            <a:ext cx="8572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Database Design, Schema Architecture &amp; Relational Mapping for Modern Tourism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3438" y="4455648"/>
            <a:ext cx="32289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Name </a:t>
            </a:r>
            <a:r>
              <a:rPr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0" i="0" u="none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NEXUS</a:t>
            </a:r>
            <a:endParaRPr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03123" y="4428083"/>
            <a:ext cx="32289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Leader Name </a:t>
            </a:r>
            <a:r>
              <a:rPr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Kush Tayal</a:t>
            </a:r>
            <a:endParaRPr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13438" y="4761458"/>
            <a:ext cx="5154857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</a:t>
            </a:r>
            <a:r>
              <a:rPr lang="en-US" sz="1400" b="1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0" i="0" u="none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B.Tech CSE </a:t>
            </a:r>
            <a:endParaRPr lang="en-US" sz="1400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Subject</a:t>
            </a: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sz="1400" b="0" i="0" u="none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</a:t>
            </a:r>
            <a:endParaRPr lang="en-US"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</a:t>
            </a:r>
            <a:r>
              <a:rPr lang="en-IN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Krishna Yadav </a:t>
            </a:r>
            <a:br>
              <a:rPr lang="en-IN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     Aniket Yadav</a:t>
            </a:r>
            <a:endParaRPr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03123" y="4757485"/>
            <a:ext cx="322897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Institution</a:t>
            </a:r>
            <a:r>
              <a:rPr lang="en-US"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b="1" i="0" u="none" dirty="0">
                <a:solidFill>
                  <a:srgbClr val="00B4D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sz="1400" b="0" i="0" u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ITM University</a:t>
            </a:r>
            <a:endParaRPr sz="1400" b="0" i="0" u="none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46" y="1457325"/>
            <a:ext cx="4854365" cy="275283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891" y="1457324"/>
            <a:ext cx="4854365" cy="275283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99837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AZURA Tourist Website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05011" y="1716462"/>
            <a:ext cx="3749175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 dirty="0">
                <a:solidFill>
                  <a:srgbClr val="90E0EF"/>
                </a:solidFill>
                <a:latin typeface="Poppins SemiBold"/>
              </a:rPr>
              <a:t>Platform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8852" y="2024395"/>
            <a:ext cx="4556359" cy="906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Inter"/>
              </a:rPr>
              <a:t>AZURA is an interactive tourism web platform designed to help travelers discover exotic destinations, check verified hotel accommodations, browse tailored tour packages, and book localized experiences seamlessly.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8852" y="3081670"/>
            <a:ext cx="4556359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Inter"/>
              </a:rPr>
              <a:t>The core application logic requires persistent database storage for users, catalog data (destinations, hotels, packages, experiences), transactional bookings, secure payments, and user feedback loops.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9308" y="1770001"/>
            <a:ext cx="3749175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50" b="0" i="0" u="none">
                <a:solidFill>
                  <a:srgbClr val="90E0EF"/>
                </a:solidFill>
                <a:latin typeface="Poppins SemiBold"/>
              </a:rPr>
              <a:t>Core Application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67930" y="2156350"/>
            <a:ext cx="4366465" cy="15987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Inter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Inter"/>
              </a:rPr>
              <a:t>Discovery &amp; Catalog: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Rich destination details, pricing, ratings, and filters.</a:t>
            </a:r>
            <a:r>
              <a:rPr dirty="0"/>
              <a:t>
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Inter"/>
              </a:rPr>
              <a:t>Accommodations &amp; Activities: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Destination-linked hotels and curated experiences.</a:t>
            </a:r>
            <a:r>
              <a:rPr dirty="0"/>
              <a:t>
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Inter"/>
              </a:rPr>
              <a:t>Booking &amp; Checkout: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Multi-traveler bookings with secure payment processing.</a:t>
            </a:r>
            <a:r>
              <a:rPr dirty="0"/>
              <a:t>
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Inter"/>
              </a:rPr>
              <a:t>Engagement:</a:t>
            </a:r>
            <a:r>
              <a:rPr sz="1200" b="0" i="0" u="none" dirty="0">
                <a:solidFill>
                  <a:srgbClr val="E0E1DD"/>
                </a:solidFill>
                <a:latin typeface="Inter"/>
              </a:rPr>
              <a:t> Verified user reviews and rating mechanisms.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173" y="5191125"/>
            <a:ext cx="666750" cy="666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2179" y="5953125"/>
            <a:ext cx="16208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Discover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3066" y="5543550"/>
            <a:ext cx="1428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2935" y="5191125"/>
            <a:ext cx="666750" cy="6667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45941" y="5953125"/>
            <a:ext cx="16208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Explore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6828" y="5543550"/>
            <a:ext cx="1428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6697" y="5191125"/>
            <a:ext cx="666750" cy="6667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709703" y="5953125"/>
            <a:ext cx="16208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Select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30590" y="5543550"/>
            <a:ext cx="142875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50459" y="5191125"/>
            <a:ext cx="666750" cy="6667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73465" y="5953125"/>
            <a:ext cx="16208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Book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4352" y="5543550"/>
            <a:ext cx="14287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14221" y="5191125"/>
            <a:ext cx="666750" cy="6667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237227" y="5953125"/>
            <a:ext cx="16208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Pay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58114" y="5543550"/>
            <a:ext cx="14287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77983" y="5191125"/>
            <a:ext cx="666750" cy="6667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000989" y="5953125"/>
            <a:ext cx="1620887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FFFFFF"/>
                </a:solidFill>
                <a:latin typeface="Inter SemiBold"/>
              </a:rPr>
              <a:t>Review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42884" y="1709464"/>
            <a:ext cx="191048" cy="191048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48851" y="1804987"/>
            <a:ext cx="191048" cy="191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437" y="1873860"/>
            <a:ext cx="4967560" cy="31102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8607" y="1873860"/>
            <a:ext cx="4967560" cy="31102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836571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Requirements &amp;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5418" y="2164978"/>
            <a:ext cx="3953189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Data to Manage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8772" y="2626335"/>
            <a:ext cx="4552950" cy="18296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Accounts: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Traveler profiles, contact info, roles, and credentials.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Destinations &amp; Inventory: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Global locations, descriptions, ratings, and price baselines.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Services &amp; Stay: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Destination-linked hotels, tour packages, and recreational experiences.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Transactions: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Booking records, traveler counts, total amounts, and payment statuses.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 reviews and ratings linked to destinations.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1386" y="2164978"/>
            <a:ext cx="3927739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DBMS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66516" y="2626335"/>
            <a:ext cx="4524376" cy="20604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Enforcing strict domain constraints and entity rules.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Consistency: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Preventing anomalous updates across transactional tables.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Referential Integrity: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Utilizing foreign keys (e.g., BOOKING referencing USER and PACKAGE).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Efficient Retrieval: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Optimized queries for destination filters and user bookings.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Security: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Secure password storage and structured relational growth.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3521" y="2182641"/>
            <a:ext cx="168844" cy="195503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2830" y="2182642"/>
            <a:ext cx="195503" cy="1955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052256" y="601930"/>
            <a:ext cx="1008748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600" b="1" i="0" u="none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Entity–Relationship Model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1FFB3B9B-5257-AE07-3ABD-A979CFA36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484" y="949569"/>
            <a:ext cx="7745583" cy="5165824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7B43CE73-BA20-0362-6309-E4EE395817EA}"/>
              </a:ext>
            </a:extLst>
          </p:cNvPr>
          <p:cNvSpPr/>
          <p:nvPr/>
        </p:nvSpPr>
        <p:spPr>
          <a:xfrm>
            <a:off x="5208443" y="1870364"/>
            <a:ext cx="145473" cy="10131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825" y="747878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and Key Attributes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55889" y="1392115"/>
            <a:ext cx="10488757" cy="4438650"/>
          </a:xfrm>
          <a:prstGeom prst="roundRect">
            <a:avLst>
              <a:gd name="adj" fmla="val 0"/>
            </a:avLst>
          </a:prstGeom>
          <a:solidFill>
            <a:srgbClr val="0D1B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3512649"/>
              </p:ext>
            </p:extLst>
          </p:nvPr>
        </p:nvGraphicFramePr>
        <p:xfrm>
          <a:off x="1464950" y="1400175"/>
          <a:ext cx="10479696" cy="4438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2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791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623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0E0E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Entity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90E0E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 Key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i="0" u="none" dirty="0">
                          <a:solidFill>
                            <a:srgbClr val="90E0E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Important Attributes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 dirty="0">
                          <a:solidFill>
                            <a:srgbClr val="90E0E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B2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lang="en-US" sz="1125" b="1" i="0" u="none" dirty="0">
                          <a:solidFill>
                            <a:srgbClr val="E0E1DD"/>
                          </a:solidFill>
                          <a:latin typeface="Inter"/>
                        </a:rPr>
                        <a:t>USER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User_ID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E0E1DD"/>
                          </a:solidFill>
                          <a:latin typeface="Inter"/>
                        </a:rPr>
                        <a:t>Name, Email, Phone, Password, Role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E0E1DD"/>
                          </a:solidFill>
                          <a:latin typeface="Inter"/>
                        </a:rPr>
                        <a:t>Stores registered accounts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E0E1DD"/>
                          </a:solidFill>
                          <a:latin typeface="Inter"/>
                        </a:rPr>
                        <a:t>DESTINATION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Destination_ID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E0E1DD"/>
                          </a:solidFill>
                          <a:latin typeface="Inter"/>
                        </a:rPr>
                        <a:t>Name, Country, Rating, Price, Description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E0E1DD"/>
                          </a:solidFill>
                          <a:latin typeface="Inter"/>
                        </a:rPr>
                        <a:t>Stores tourist location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0E1DD"/>
                          </a:solidFill>
                          <a:latin typeface="Inter"/>
                        </a:rPr>
                        <a:t>HOTEL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Hotel_ID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Destination_ID (FK), Hotel_Name, Stars, Price, Amenities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Stores accommodation details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0E1DD"/>
                          </a:solidFill>
                          <a:latin typeface="Inter"/>
                        </a:rPr>
                        <a:t>PACKAGE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Package_ID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Destination_ID (FK), Package_Name, Duration, Price, Travel_Style,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Stores tour packages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0E1DD"/>
                          </a:solidFill>
                          <a:latin typeface="Inter"/>
                        </a:rPr>
                        <a:t>EXPERIENCE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Experience_ID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Destination_ID (FK), Title, Category, Duration, Price, Rating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Stores destination activities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0E1DD"/>
                          </a:solidFill>
                          <a:latin typeface="Inter"/>
                        </a:rPr>
                        <a:t>BOOKING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E0E1DD"/>
                          </a:solidFill>
                          <a:latin typeface="Inter"/>
                        </a:rPr>
                        <a:t>Booking_ID</a:t>
                      </a:r>
                      <a:endParaRPr sz="1125" b="0" i="0" u="none" dirty="0">
                        <a:solidFill>
                          <a:srgbClr val="E0E1DD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User_ID (FK), Package_ID (FK), Booking_Date, Travelers, Total_Amount, Status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Stores package reservations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183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0E1DD"/>
                          </a:solidFill>
                          <a:latin typeface="Inter"/>
                        </a:rPr>
                        <a:t>PAYMENT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Payment_ID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Booking_ID (FK), Payment_Method, Amount, Date, Status, Transaction_ID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Stores transaction records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186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E0E1DD"/>
                          </a:solidFill>
                          <a:latin typeface="Inter"/>
                        </a:rPr>
                        <a:t>REVIEW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Review_ID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E0E1DD"/>
                          </a:solidFill>
                          <a:latin typeface="Inter"/>
                        </a:rPr>
                        <a:t>User_ID (FK), Destination_ID (FK), Rating, Review_Text, Review_Date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E0E1DD"/>
                          </a:solidFill>
                          <a:latin typeface="Inter"/>
                        </a:rPr>
                        <a:t>Stores user feedback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1460651" y="1892177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840585" y="1892177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34956" y="1892177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568618" y="1892177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60651" y="2382715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40585" y="2382715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34956" y="2382715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568618" y="2382715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460651" y="2873252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0585" y="2873252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4956" y="2873252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568618" y="2873252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460651" y="3363790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840585" y="3363790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34956" y="3363790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16386" y="3363790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460651" y="3854327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40585" y="3854327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234956" y="3854327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423111" y="3854327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60651" y="4344865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2840585" y="4344865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34956" y="4344865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568618" y="4344865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460651" y="4835402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840585" y="4835402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34956" y="4835402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68618" y="4835402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460651" y="5325940"/>
            <a:ext cx="131222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40585" y="5325940"/>
            <a:ext cx="1325954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234956" y="5325940"/>
            <a:ext cx="5479169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568618" y="5325940"/>
            <a:ext cx="2362347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429" y="1400175"/>
            <a:ext cx="2284719" cy="1647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147" y="1400175"/>
            <a:ext cx="2284719" cy="1647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9865" y="1400175"/>
            <a:ext cx="2284719" cy="1647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0583" y="1400175"/>
            <a:ext cx="2284719" cy="16478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8429" y="3190875"/>
            <a:ext cx="2284719" cy="16478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9147" y="3190875"/>
            <a:ext cx="2284719" cy="16478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9865" y="3190875"/>
            <a:ext cx="2284719" cy="16478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30583" y="3190875"/>
            <a:ext cx="2284719" cy="1647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4398" y="677704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 Schemas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40830" y="15525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USER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40830" y="18097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840829" y="1895475"/>
            <a:ext cx="76875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User_ID (PK)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1548" y="15525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DESTINATION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21548" y="18097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21547" y="1895475"/>
            <a:ext cx="121715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Destination_ID (PK)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2266" y="15525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HOTEL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02266" y="18097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02266" y="1895475"/>
            <a:ext cx="83277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Hotel_ID (PK)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02265" y="2038350"/>
            <a:ext cx="121715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Destination_ID (FK)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82984" y="15525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PACKAGE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582984" y="18097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582983" y="1895475"/>
            <a:ext cx="96094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Package_ID (PK)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82983" y="2038350"/>
            <a:ext cx="121715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Destination_ID (FK)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0830" y="33432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EXPERIENCE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40830" y="36004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840830" y="3686175"/>
            <a:ext cx="1153136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Experience_ID (PK)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40829" y="3829050"/>
            <a:ext cx="121715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Destination_ID (FK)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21548" y="33432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BOOKING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1548" y="36004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21547" y="3686175"/>
            <a:ext cx="96094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Booking_ID (PK)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21547" y="3829050"/>
            <a:ext cx="76875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User_ID (FK)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1547" y="3971925"/>
            <a:ext cx="96094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Package_ID (FK)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02266" y="33432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PAYMENT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02266" y="36004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002265" y="3686175"/>
            <a:ext cx="96094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Payment_ID (PK)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02265" y="3829050"/>
            <a:ext cx="96094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Booking_ID (FK)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82984" y="3343275"/>
            <a:ext cx="2123064" cy="1731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0B4D8"/>
                </a:solidFill>
                <a:latin typeface="Poppins"/>
              </a:rPr>
              <a:t>REVIEW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82984" y="3600450"/>
            <a:ext cx="2021966" cy="9525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582983" y="3686175"/>
            <a:ext cx="89679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0E0EF"/>
                </a:solidFill>
                <a:latin typeface="monospace"/>
              </a:rPr>
              <a:t>Review_ID (PK)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82983" y="3829050"/>
            <a:ext cx="768758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User_ID (FK)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2983" y="3971925"/>
            <a:ext cx="1217157" cy="1500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CA311"/>
                </a:solidFill>
                <a:latin typeface="monospace"/>
              </a:rPr>
              <a:t>Destination_ID (FK)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458" y="1445895"/>
            <a:ext cx="5152147" cy="319820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805" y="1445895"/>
            <a:ext cx="5152147" cy="31982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1606" y="749923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 and Referential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1774" y="1188718"/>
            <a:ext cx="9984177" cy="45719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71289" y="1777830"/>
            <a:ext cx="4191543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&amp; Foreign 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239" y="2198369"/>
            <a:ext cx="4285091" cy="670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 Key (PK):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Uniquely identifies each tuple in a relation (e.g.,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 Ensures entity integrity.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239" y="3036569"/>
            <a:ext cx="4285091" cy="1373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 Key (FK):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Establishes relationship links across relations: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BOOKING.User_ID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USER.User_ID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BOOKING.Package_ID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PACKAGE.Package_ID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PAYMENT.Booking_ID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BOOKING.Booking_ID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HOTEL/PACKAGE/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EXPERIENCE.Destination_ID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200" b="0" i="0" u="none" dirty="0" err="1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DESTINATION.Destination_ID</a:t>
            </a:r>
            <a:endParaRPr sz="1200" b="0" i="0" u="none" dirty="0">
              <a:solidFill>
                <a:srgbClr val="E0E1D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5367" y="1777830"/>
            <a:ext cx="4164385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 u="none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of Cardinalities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5586" y="2198369"/>
            <a:ext cx="4285091" cy="18296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USER 1:N BOOKING (Makes)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PACKAGE 1:N BOOKING (Booked Through)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BOOKING 1:1 PAYMENT (Has)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DESTINATION 1:N HOTEL (Has)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DESTINATION 1:N PACKAGE (Offers)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DESTINATION 1:N EXPERIENCE (Offers)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USER 1:N REVIEW (Writes)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DESTINATION 1:N REVIEW (Receives)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2321" y="1784143"/>
            <a:ext cx="202768" cy="202768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586" y="1832180"/>
            <a:ext cx="230418" cy="2027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531" y="1400175"/>
            <a:ext cx="4920761" cy="3162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341" y="1400175"/>
            <a:ext cx="4920761" cy="3162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731996"/>
            <a:ext cx="11581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 u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1143000"/>
            <a:ext cx="11029950" cy="19050"/>
          </a:xfrm>
          <a:prstGeom prst="rect">
            <a:avLst/>
          </a:prstGeom>
          <a:solidFill>
            <a:srgbClr val="415A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00042" y="1725654"/>
            <a:ext cx="427947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u="none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4029" y="2152650"/>
            <a:ext cx="4499186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translated real-world AZURA application requirements into a rigorous academic ER model and </a:t>
            </a:r>
            <a:r>
              <a:rPr lang="en-US" sz="1200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relational schemas.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4029" y="2981325"/>
            <a:ext cx="4499186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Established clean primary-foreign key dependencies to maintain referential integrity across users, destinations, packages, and bookings.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4029" y="3810000"/>
            <a:ext cx="449918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Provided a robust, scalable backend foundation for complete tour management workflows.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3852" y="1725654"/>
            <a:ext cx="4279477" cy="2539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 i="0" u="none" dirty="0">
                <a:solidFill>
                  <a:srgbClr val="90E0E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1092" y="2217695"/>
            <a:ext cx="4762237" cy="1367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Flight &amp; Transport Integration: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Linking multi-modal transit services </a:t>
            </a:r>
            <a:r>
              <a:rPr lang="en-US"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bookings.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Wishlist &amp; Favorites: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Persistent user-destination preference lists.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Availability: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Real-time seat and room inventory tracking.</a:t>
            </a:r>
            <a:r>
              <a:rPr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
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sz="1200" b="1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Analytics:</a:t>
            </a:r>
            <a:r>
              <a:rPr sz="1200" b="0" i="0" u="none" dirty="0">
                <a:solidFill>
                  <a:srgbClr val="E0E1D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Reporting dashboards for booking trends and customer feedback.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1608" y="1747837"/>
            <a:ext cx="193661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7839" y="1747837"/>
            <a:ext cx="193661" cy="209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Seminar PPT</Template>
  <TotalTime>37</TotalTime>
  <Words>980</Words>
  <Application>Microsoft Office PowerPoint</Application>
  <PresentationFormat>Widescreen</PresentationFormat>
  <Paragraphs>103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Calibri</vt:lpstr>
      <vt:lpstr>Inter</vt:lpstr>
      <vt:lpstr>Inter SemiBold</vt:lpstr>
      <vt:lpstr>monospace</vt:lpstr>
      <vt:lpstr>Poppins</vt:lpstr>
      <vt:lpstr>Poppins SemiBold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Lenovo</dc:creator>
  <cp:keywords/>
  <dc:description>generated using python-pptx</dc:description>
  <cp:lastModifiedBy>Kush Tayal</cp:lastModifiedBy>
  <cp:revision>4</cp:revision>
  <dcterms:created xsi:type="dcterms:W3CDTF">2013-01-27T09:14:16Z</dcterms:created>
  <dcterms:modified xsi:type="dcterms:W3CDTF">2026-08-24T04:00:59Z</dcterms:modified>
  <cp:category/>
</cp:coreProperties>
</file>